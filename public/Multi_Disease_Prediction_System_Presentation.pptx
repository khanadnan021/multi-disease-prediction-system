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6459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25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ARTIFICIAL INTELLIGENCE &amp; HEALTH INFORMATICS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Multi-Disease Predictive Healthcare Decision Support 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Clinical Risk Stratification across Heart, Diabetes, Kidney &amp; Liver Conditions using Calibrated Random Forest Ensembles &amp; Explainable AI (SHAP)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5720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Diagnostic Modules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49377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• Diabetes • CKD • Liver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438912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45720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Modeling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49377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Random Forests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438912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45720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(XAI)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49377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Game-Theoretic Feature Attribution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823960" y="438912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45720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Deployment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61120" y="49377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Node Express + Python ML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Clinical Engineering Capstone Project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Clinical Motivation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HealthPredict AI • Decision Support System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71600"/>
            <a:ext cx="3383280" cy="640080"/>
          </a:xfrm>
          <a:prstGeom prst="roundRect">
            <a:avLst>
              <a:gd name="adj" fmla="val 17143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08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Diagnostic Delay &amp; High Mortality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Non-Communicable Diseases (NCDs) like cardiovascular conditions, diabetes, chronic kidney disease (CKD), and cirrhosis account for over 70% of global mortality.
•  Early stages are frequently asymptomatic, leading to late-stage discovery when interventions are costly and organ damage is irreversible.
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37160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371600"/>
            <a:ext cx="3383280" cy="640080"/>
          </a:xfrm>
          <a:prstGeom prst="roundRect">
            <a:avLst>
              <a:gd name="adj" fmla="val 17143"/>
            </a:avLst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508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Fragmented Single-Disease Screening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19456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Most digital health tools evaluate only one isolated condition, failing to address metabolic syndrome and multi-organ comorbidities (e.g., diabetes inducing nephropathy and cardiac stress).
•  Clinicians must juggle disparate calculators without a consolidated patient dashboard.
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55280" y="137160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371600"/>
            <a:ext cx="3383280" cy="640080"/>
          </a:xfrm>
          <a:prstGeom prst="roundRect">
            <a:avLst>
              <a:gd name="adj" fmla="val 17143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508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Black-Box AI Dilemma in Healthcare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38160" y="219456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Traditional deep learning and complex classifiers output opaque probability scores without clinical justification.
•  Doctors cannot ethically act on predictions without understanding which physiological biomarkers drove the risk verdict.
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566928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1E3A8A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5806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Goal: Deliver an instant, explainable, and multi-organ predictive triage assistant running sub-second inference with validated medical benchmarks.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Engineering Implementation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HealthPredict AI • Decision Support System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291840" cy="43891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React 18 + Vite SPA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 responsive medical layout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Biomarker Radar Charts (Recharts)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Anatomical Organ Mapping Visualization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Tree Ensemble Voting Breakdown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SHAP Waterfall Attribution Rendering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Stratified 25% Test Data CSV Viewer &amp; Instant Case Pre-Loader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06908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371600"/>
            <a:ext cx="3200400" cy="43891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5544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 &amp; ORCHESTRATION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/ Express Gateway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286000"/>
            <a:ext cx="2834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Port 3000 Unified Microservice Architecture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Input validation &amp; sanity range bounds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Synchronous Python IPC child-process orchestration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Static serving for standalone client &amp; test CSVs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retraining triggers &amp; health status telemetry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9244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Process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69680" y="1371600"/>
            <a:ext cx="3291840" cy="43891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FBCF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ENGINE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5256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&amp; SHAP Engine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52560" y="228600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 Trained Random Forest Classifiers (.joblib)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Standardized clinical scalers (Robust/Standard)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Probability calibration for exact clinical risk scores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SHAP TreeExplainer for per-patient attributions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 sub-50ms inference runtime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59436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Deployment: Zero-external-cloud-dependency containerized runtime with standalone HTML client fallback.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Datasets &amp; Feature Preprocessing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HealthPredict AI • Decision Support System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1663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71600"/>
            <a:ext cx="137160" cy="2057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Disease (Cleveland)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Clinical Attributes • UCI ML Repository / Detrano et al.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1031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Inputs: Resting BP, Cholesterol, Max Heart Rate (Thalach), ST Depression (Oldpeak), Chest Pain Type, Thalassemia.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7432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Preprocessing: Standardized scaling, missing value imputation, binary target encoding (0 = Healthy, 1 = CAD).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72200" y="1371600"/>
            <a:ext cx="51663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371600"/>
            <a:ext cx="137160" cy="2057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508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Diabetes Mellitus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18288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Physiological Parameters • Pima Indians Diabetes (NIDDK / UCI)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46520" y="21031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Inputs: Fasting Plasma Glucose, Serum Insulin, BMI, Blood Pressure, Diabetes Pedigree Function, Age.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46520" y="27432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Preprocessing: Zero-value physiological anomaly imputation (MICE/Median for Glucose &amp; Insulin), outlier truncation.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51663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611880"/>
            <a:ext cx="137160" cy="2057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Kidney Disease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40690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Multi-Modal Indicators • UCI Machine Learning Repository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43434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Inputs: Blood Urea, Serum Creatinine, Albumin, Hemoglobin, Specific Gravity, Hypertension, Blood Glucose Random.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" y="49834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Preprocessing: Categorical binary encoding (normal/abnormal), numerical scaling, handling missing lab records.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72200" y="3611880"/>
            <a:ext cx="51663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3611880"/>
            <a:ext cx="137160" cy="2057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Liver Disease (ILPD)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40690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Hepatic Biomarkers • Indian Liver Patient Dataset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6520" y="43434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Inputs: Total Bilirubin, Direct Bilirubin, Alkphos, SGPT (ALT), SGOT (AST), Total Proteins, Albumin, A/G Ratio.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46520" y="49834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Preprocessing: Gender one-hot encoding, log1p transformation on skewed transaminase enzymes, class weighting.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31520" y="59893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Splitting: 75% Stratified Training Partition, 25% Held-Out Validation/Test Partition (Available as CSV in the UI).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 STRATEGY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Choice: Why Calibrated Random Forest?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HealthPredict AI • Decision Support System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00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Architectural Advantages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Bagging (Bootstrap Aggregation): Combines predictions across 100+ de-correlated decision trees, dramatically reducing variance without inflating bias.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267004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Tabular Clinical Superiority: Consistently matches or outperforms Deep Neural Networks on structured medical records with small-to-medium sample sizes (N &lt; 2,000).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332841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Handles Non-Linear Thresholds: Naturally detects complex medical thresholds (e.g., Blood Pressure × Age cardiovascular multiplier) without requiring manual interaction terms.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398678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Out-of-Bag (OOB) Internal Cross-Validation: Minimizes data leakage while preserving training volume.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" y="464515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Robust to Multicollinearity: Random feature subspace selection at each split prevents dominant features from masking subtle clinical indicators.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512064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Soft-Voting Ensemble &amp; Risk Probability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01168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a binary 0/1 output, our pipeline calculates continuous clinical risk probability using calibrated leaf-node votes: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Tree-Level Voting: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the 100 estimator trees traverses patient features to an individual leaf-node verdict.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Probability Calibration: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CalibratedClassifierCV aligns raw voting ratios with empirical risk curves, avoiding overconfident misclassifications.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3-Tier Risk Stratification: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 Risk (&lt; 40%): Routine lifestyle monitoring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Moderate Risk (40% - 70%): Diagnostic follow-up required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Risk (&gt; 70%): Immediate clinical intervention protocol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Evaluation on 25% Stratified Test Data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HealthPredict AI • Decision Support System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07040" cy="2011680"/>
        </p:xfrm>
        <a:graphic>
          <a:graphicData uri="http://schemas.openxmlformats.org/drawingml/2006/table">
            <a:tbl>
              <a:tblPr/>
              <a:tblGrid>
                <a:gridCol w="1515291"/>
                <a:gridCol w="1515291"/>
                <a:gridCol w="1515291"/>
                <a:gridCol w="1515291"/>
                <a:gridCol w="1515291"/>
                <a:gridCol w="1515291"/>
                <a:gridCol w="1515291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Disease Condition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Evaluated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F1-Score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Chronic Kidney Disease (CKD)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 (24 feats)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 Disease (CAD)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 (13 feats)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2 Diabetes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 (8 feats)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Liver Disease (ILPD)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 (10 feats)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3657600"/>
            <a:ext cx="51663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794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Alignment with Literature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41605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CKD: Replicates landmark performance by Almansour et al. (Computers in Biology &amp; Medicine, 2019).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Diabetes: Surpasses baseline Naive Bayes threshold of 76.3% published by Sisodia et al. (Procedia Comp Sci, 2018).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Heart: Consistent with Mohan et al. (IEEE Access, 2019) hybrid benchmark range (85-88%).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Liver: Outperforms original UCI ILPD benchmark by Ramana et al. (IJCSIT, 2011).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72200" y="3657600"/>
            <a:ext cx="51663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5080" y="3794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Safety &amp; Confusion Matrix Balance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55080" y="41605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Recall Priority: In diagnostic triage, False Negatives (FN) are far costlier than False Positives (FP). Class weights are adjusted to guarantee high sensitivity.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Sub-Second Latency: In-memory model caching ensures &lt;40ms prediction response time on standard hardware.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25% Test Split Transparency: Entire test split is openly downloadable as CSV and testable inside the UI.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INTERPRETABILITY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AI: SHAP Waterfall &amp; Clinical Transparency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HealthPredict AI • Decision Support System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71600"/>
            <a:ext cx="3383280" cy="640080"/>
          </a:xfrm>
          <a:prstGeom prst="roundRect">
            <a:avLst>
              <a:gd name="adj" fmla="val 17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08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Waterfall Plot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Quantifies the exact Shapley value contribution of each biomarker in pushing the patient towards High Risk (+SHAP in Red) or Low Risk (-SHAP in Blue).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4389120"/>
            <a:ext cx="3017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5720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Utility: Based on Lundberg &amp; Lee (NeurIPS 2017) game-theoretic attribution.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43400" y="137160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371600"/>
            <a:ext cx="3383280" cy="640080"/>
          </a:xfrm>
          <a:prstGeom prst="roundRect">
            <a:avLst>
              <a:gd name="adj" fmla="val 17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508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Biomarker Reference Gauge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219456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input patient lab readings against verified clinical normal thresholds (e.g., Creatinine 0.7-1.3 mg/dL, Fasting Glucose 70-99 mg/dL).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4389120"/>
            <a:ext cx="3017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5720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Utility: Color-coded: Optimal (Green), Elevated (Amber), Critical (Red).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955280" y="1371600"/>
            <a:ext cx="3383280" cy="41148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1371600"/>
            <a:ext cx="3383280" cy="640080"/>
          </a:xfrm>
          <a:prstGeom prst="roundRect">
            <a:avLst>
              <a:gd name="adj" fmla="val 17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1508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Anatomical Organ Mapping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38160" y="219456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Visualizes the physical physiological organ affected (Heart, Pancreas, Kidneys, Liver) with tailored medical next-steps and lifestyle recommendations.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38160" y="4389120"/>
            <a:ext cx="3017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45720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Utility: Bridges the gap between raw numeric probabilities and bedside patient care.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1520" y="58521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Mandate: Machine Learning models in healthcare must never be black boxes. Clinicians must always see the 'why'.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WRAP-UP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840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Conclusion, Limitations &amp; Future Roadmap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HealthPredict AI • Decision Support System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16636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00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Accomplishments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0574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Unified 4-in-1 Platform: Successfully consolidated Heart, Diabetes, Kidney, and Liver risk prediction into a single, cohesive workflow.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267919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High Predictive Accuracy: 99.1% CKD and 86.8% Heart disease accuracy on held-out test data.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3300984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Instant Bedside Usability: Features test data auto-fill, one-click evaluation, and standalone offline-capable client.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3922776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Interpretability by Design: Real-time SHAP waterfall charts eliminate clinical skepticism.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" y="454456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Robust Engineering: 100% test pass rate with fully decoupled React + Node + Python architecture.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1371600"/>
            <a:ext cx="516636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9050">
            <a:solidFill>
              <a:srgbClr val="FBCF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600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&amp; Future Enhancements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20574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 Clinical Scope Limitation: Designed as an auxiliary triage assistant; does not replace confirmatory biopsy, angiography, or licensed physician consultation.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46520" y="2807208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 HL7 / FHIR Standard Integration: Future roadmap includes direct integration with Hospital Information Systems (HIS) and Electronic Health Records (EHR).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46520" y="3557016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 Multi-Modal Diagnostics: Expanding inputs to incorporate raw 12-lead ECG signals, Chest X-rays (CXR), and longitudinal lab history.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46520" y="4306824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 Federated Edge Training: Enabling decentralized model fine-tuning across hospital nodes without centralizing sensitive patient PHI.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59436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• Questions &amp; Discussion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Clinical Machine Learning Decision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Multi-Disease Predictive Healthcare Decision Support System</dc:title>
  <dc:subject>PptxGenJS Presentation</dc:subject>
  <dc:creator>HealthPredict AI Engineering Team</dc:creator>
  <cp:lastModifiedBy>HealthPredict AI Engineering Team</cp:lastModifiedBy>
  <cp:revision>1</cp:revision>
  <dcterms:created xsi:type="dcterms:W3CDTF">2026-09-09T13:04:45Z</dcterms:created>
  <dcterms:modified xsi:type="dcterms:W3CDTF">2026-09-09T13:04:45Z</dcterms:modified>
</cp:coreProperties>
</file>